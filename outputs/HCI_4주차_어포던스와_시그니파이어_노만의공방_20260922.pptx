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437f26023543dd" /><Relationship Type="http://schemas.openxmlformats.org/officeDocument/2006/relationships/extended-properties" Target="/docProps/app.xml" Id="Rbd21f119ba9f40be" /><Relationship Type="http://schemas.openxmlformats.org/officeDocument/2006/relationships/officeDocument" Target="/ppt/presentation.xml" Id="R6af36360bce94a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f777d7365741d0"/>
  </p:sldMasterIdLst>
  <p:notesMasterIdLst>
    <p:notesMasterId xmlns:r="http://schemas.openxmlformats.org/officeDocument/2006/relationships" r:id="R71557efbdce84651"/>
  </p:notesMasterIdLst>
  <p:sldIdLst>
    <p:sldId xmlns:r="http://schemas.openxmlformats.org/officeDocument/2006/relationships" id="256" r:id="R1d009d354da94ccd"/>
    <p:sldId xmlns:r="http://schemas.openxmlformats.org/officeDocument/2006/relationships" id="257" r:id="R733d48aa11ad4846"/>
    <p:sldId xmlns:r="http://schemas.openxmlformats.org/officeDocument/2006/relationships" id="258" r:id="R05401b9582b24424"/>
    <p:sldId xmlns:r="http://schemas.openxmlformats.org/officeDocument/2006/relationships" id="259" r:id="R8554675e6930497b"/>
    <p:sldId xmlns:r="http://schemas.openxmlformats.org/officeDocument/2006/relationships" id="260" r:id="R4b2d77dff98e4821"/>
    <p:sldId xmlns:r="http://schemas.openxmlformats.org/officeDocument/2006/relationships" id="261" r:id="R0193f33affef4aa3"/>
    <p:sldId xmlns:r="http://schemas.openxmlformats.org/officeDocument/2006/relationships" id="262" r:id="R3babdae770a14340"/>
    <p:sldId xmlns:r="http://schemas.openxmlformats.org/officeDocument/2006/relationships" id="263" r:id="R4a6906d5084c4784"/>
    <p:sldId xmlns:r="http://schemas.openxmlformats.org/officeDocument/2006/relationships" id="264" r:id="R1fd7883b1e2a4d16"/>
    <p:sldId xmlns:r="http://schemas.openxmlformats.org/officeDocument/2006/relationships" id="265" r:id="Raa4acf13bb6141ba"/>
    <p:sldId xmlns:r="http://schemas.openxmlformats.org/officeDocument/2006/relationships" id="266" r:id="Rfd7285d88329406b"/>
    <p:sldId xmlns:r="http://schemas.openxmlformats.org/officeDocument/2006/relationships" id="267" r:id="Re3e10675b4b64492"/>
    <p:sldId xmlns:r="http://schemas.openxmlformats.org/officeDocument/2006/relationships" id="268" r:id="R499fb46c18d44a98"/>
    <p:sldId xmlns:r="http://schemas.openxmlformats.org/officeDocument/2006/relationships" id="269" r:id="R460863a6f1e34f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fb26d89be4038" /><Relationship Type="http://schemas.openxmlformats.org/officeDocument/2006/relationships/slideMaster" Target="/ppt/slideMasters/slideMaster1.xml" Id="R2ff777d7365741d0" /><Relationship Type="http://schemas.openxmlformats.org/officeDocument/2006/relationships/notesMaster" Target="/ppt/notesMasters/notesMaster1.xml" Id="R71557efbdce84651" /><Relationship Type="http://schemas.openxmlformats.org/officeDocument/2006/relationships/presProps" Target="/ppt/presProps.xml" Id="Rc3c6d04ade374490" /><Relationship Type="http://schemas.openxmlformats.org/officeDocument/2006/relationships/viewProps" Target="/ppt/viewProps.xml" Id="R3040df7991ab477c" /><Relationship Type="http://schemas.openxmlformats.org/officeDocument/2006/relationships/tableStyles" Target="/ppt/tableStyles.xml" Id="R7d1955ad409b4e32" /><Relationship Type="http://schemas.openxmlformats.org/officeDocument/2006/relationships/slide" Target="/ppt/slides/slide1.xml" Id="R1d009d354da94ccd" /><Relationship Type="http://schemas.openxmlformats.org/officeDocument/2006/relationships/slide" Target="/ppt/slides/slide2.xml" Id="R733d48aa11ad4846" /><Relationship Type="http://schemas.openxmlformats.org/officeDocument/2006/relationships/slide" Target="/ppt/slides/slide3.xml" Id="R05401b9582b24424" /><Relationship Type="http://schemas.openxmlformats.org/officeDocument/2006/relationships/slide" Target="/ppt/slides/slide4.xml" Id="R8554675e6930497b" /><Relationship Type="http://schemas.openxmlformats.org/officeDocument/2006/relationships/slide" Target="/ppt/slides/slide5.xml" Id="R4b2d77dff98e4821" /><Relationship Type="http://schemas.openxmlformats.org/officeDocument/2006/relationships/slide" Target="/ppt/slides/slide6.xml" Id="R0193f33affef4aa3" /><Relationship Type="http://schemas.openxmlformats.org/officeDocument/2006/relationships/slide" Target="/ppt/slides/slide7.xml" Id="R3babdae770a14340" /><Relationship Type="http://schemas.openxmlformats.org/officeDocument/2006/relationships/slide" Target="/ppt/slides/slide8.xml" Id="R4a6906d5084c4784" /><Relationship Type="http://schemas.openxmlformats.org/officeDocument/2006/relationships/slide" Target="/ppt/slides/slide9.xml" Id="R1fd7883b1e2a4d16" /><Relationship Type="http://schemas.openxmlformats.org/officeDocument/2006/relationships/slide" Target="/ppt/slides/slide10.xml" Id="Raa4acf13bb6141ba" /><Relationship Type="http://schemas.openxmlformats.org/officeDocument/2006/relationships/slide" Target="/ppt/slides/slide11.xml" Id="Rfd7285d88329406b" /><Relationship Type="http://schemas.openxmlformats.org/officeDocument/2006/relationships/slide" Target="/ppt/slides/slide12.xml" Id="Re3e10675b4b64492" /><Relationship Type="http://schemas.openxmlformats.org/officeDocument/2006/relationships/slide" Target="/ppt/slides/slide13.xml" Id="R499fb46c18d44a98" /><Relationship Type="http://schemas.openxmlformats.org/officeDocument/2006/relationships/slide" Target="/ppt/slides/slide14.xml" Id="R460863a6f1e34f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0087425b0c4c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4d8b0b642c4d34" /><Relationship Type="http://schemas.openxmlformats.org/officeDocument/2006/relationships/notesMaster" Target="/ppt/notesMasters/notesMaster1.xml" Id="Rc712ad0052dc47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e2eed9f8dc48b4" /><Relationship Type="http://schemas.openxmlformats.org/officeDocument/2006/relationships/notesMaster" Target="/ppt/notesMasters/notesMaster1.xml" Id="R5c42c22a0b5449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7e1d29cf774bc0" /><Relationship Type="http://schemas.openxmlformats.org/officeDocument/2006/relationships/notesMaster" Target="/ppt/notesMasters/notesMaster1.xml" Id="R9f0ea0d507704a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baf5c56d3742e7" /><Relationship Type="http://schemas.openxmlformats.org/officeDocument/2006/relationships/notesMaster" Target="/ppt/notesMasters/notesMaster1.xml" Id="R3f01e6a0edff42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241cbd7943484d" /><Relationship Type="http://schemas.openxmlformats.org/officeDocument/2006/relationships/notesMaster" Target="/ppt/notesMasters/notesMaster1.xml" Id="Rc4b8a7b2e39144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f908510f184f1c" /><Relationship Type="http://schemas.openxmlformats.org/officeDocument/2006/relationships/notesMaster" Target="/ppt/notesMasters/notesMaster1.xml" Id="Re89bb3c5733544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16b7f33384b90" /><Relationship Type="http://schemas.openxmlformats.org/officeDocument/2006/relationships/notesMaster" Target="/ppt/notesMasters/notesMaster1.xml" Id="R76aa1a4ea0404f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038c92aff44e2a" /><Relationship Type="http://schemas.openxmlformats.org/officeDocument/2006/relationships/notesMaster" Target="/ppt/notesMasters/notesMaster1.xml" Id="R513c597b6d9040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d103ef2fad4590" /><Relationship Type="http://schemas.openxmlformats.org/officeDocument/2006/relationships/notesMaster" Target="/ppt/notesMasters/notesMaster1.xml" Id="R7df7734f48524f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84744a081e408f" /><Relationship Type="http://schemas.openxmlformats.org/officeDocument/2006/relationships/notesMaster" Target="/ppt/notesMasters/notesMaster1.xml" Id="Rf22e9f66a76344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50f0bd09864cc1" /><Relationship Type="http://schemas.openxmlformats.org/officeDocument/2006/relationships/notesMaster" Target="/ppt/notesMasters/notesMaster1.xml" Id="R1ee5a0519bd54e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33660b2c0d4606" /><Relationship Type="http://schemas.openxmlformats.org/officeDocument/2006/relationships/notesMaster" Target="/ppt/notesMasters/notesMaster1.xml" Id="Rc0424c2066bd4e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2efaf2163f4cce" /><Relationship Type="http://schemas.openxmlformats.org/officeDocument/2006/relationships/notesMaster" Target="/ppt/notesMasters/notesMaster1.xml" Id="R8d26658e82314d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49eb48d02d4132" /><Relationship Type="http://schemas.openxmlformats.org/officeDocument/2006/relationships/notesMaster" Target="/ppt/notesMasters/notesMaster1.xml" Id="R5172e3fe0c5a40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배경: retroApp/public/norman/img/bench.webp를 PNG로 변환해 삽입.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3~4쪽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5~11쪽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12~16쪽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17~21쪽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22~26쪽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/norman/ 접속 직후. 실서버에서 Firebase 초기화 후 팀 격자가 보이는 상태로 촬영.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조 선택 후 입장. 창 너비 1400px 이상 권장.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상단 ‘상점’ 클릭.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공방 화면 오른쪽 제작대 패널.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테스트해 보기 누른 뒤 결과 카드와 제작대 하단 단서 조합표가 함께 보이게 촬영.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테스트 통과 후 ‘앱시장에 내놓기’ 클릭.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상단 ‘문제 풀기’ 또는 빛나는 노만 초상화 클릭.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스냅샷 촬영 목록</a:t>
            </a:r>
          </a:p>
          <a:p xmlns:a="http://schemas.openxmlformats.org/drawingml/2006/main">
            <a:r>
              <a:t>① 조 고르기: /norman/ 접속 직후</a:t>
            </a:r>
          </a:p>
          <a:p xmlns:a="http://schemas.openxmlformats.org/drawingml/2006/main">
            <a:r>
              <a:t>② 공방 작업대 전체: 조 선택 후 입장, 창 1400px 이상 권장</a:t>
            </a:r>
          </a:p>
          <a:p xmlns:a="http://schemas.openxmlformats.org/drawingml/2006/main">
            <a:r>
              <a:t>③ 상점: 상단 상점</a:t>
            </a:r>
          </a:p>
          <a:p xmlns:a="http://schemas.openxmlformats.org/drawingml/2006/main">
            <a:r>
              <a:t>④ 제작대: 공방 화면 오른쪽 패널</a:t>
            </a:r>
          </a:p>
          <a:p xmlns:a="http://schemas.openxmlformats.org/drawingml/2006/main">
            <a:r>
              <a:t>⑤ 테스트 결과 + 조합표: 테스트해 보기 누른 뒤</a:t>
            </a:r>
          </a:p>
          <a:p xmlns:a="http://schemas.openxmlformats.org/drawingml/2006/main">
            <a:r>
              <a:t>⑥ 앱시장: 테스트 통과 후 앱시장에 내놓기</a:t>
            </a:r>
          </a:p>
          <a:p xmlns:a="http://schemas.openxmlformats.org/drawingml/2006/main">
            <a:r>
              <a:t>⑦ 문제 풀기: 상단 문제 풀기</a:t>
            </a:r>
          </a:p>
          <a:p xmlns:a="http://schemas.openxmlformats.org/drawingml/2006/main">
            <a:r>
              <a:t>⑧ 종료 + 워크북: /norman/board.html에서 종료 후 학생 화면</a:t>
            </a:r>
          </a:p>
          <a:p xmlns:a="http://schemas.openxmlformats.org/drawingml/2006/main">
            <a:r>
              <a:t>촬영은 연습용 조로 하고, 수업 전 /norman/admin.html에서 그 조를 되돌리기.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53170654b48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117c3e25e4dfe" /><Relationship Type="http://schemas.openxmlformats.org/officeDocument/2006/relationships/image" Target="/ppt/media/image.png" Id="R515fd10747544c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afa69fb3e43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ea7a5a91943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093ff7d1b44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79e8bf4c14c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91667166843b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8871dd34b48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d7c80f39147a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2cedb7c2c43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c131e4a44406b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8F9A21F5-5B54-412A-A2BC-5539976F21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9AD07D73-B4A2-4248-B4B1-300774544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386C5DA4-2745-4E6D-BC2C-98CFCDC1D4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94574981-2FD4-4BCA-9326-65812E4C16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ADD667BE-0BAB-48B8-A99B-CF1335E29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3114ABA-C65D-4938-B18E-30BB438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018"/>
            <a:ext cx="12192000" cy="63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83AE652-2089-4D60-9059-79C4C1BAAC9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199" y="849022"/>
            <a:ext cx="10184859" cy="4639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algn="l">
              <a:buNone/>
              <a:defRPr sz="2600">
                <a:solidFill>
                  <a:schemeClr val="accent5">
                    <a:lumMod val="75000"/>
                  </a:schemeClr>
                </a:solidFill>
                <a:latin typeface="에스코어 드림 8 Heavy"/>
                <a:ea typeface="에스코어 드림 8 Heavy"/>
                <a:cs typeface="에스코어 드림 8 Heavy"/>
              </a:defRPr>
            </a:lvl1pPr>
          </a:lstStyle>
          <a:p xmlns:a="http://schemas.openxmlformats.org/drawingml/2006/main">
            <a:r>
              <a:t>제목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F87531FD-F333-4728-A563-650D88AF45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99" y="1568972"/>
            <a:ext cx="10184859" cy="502264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28600" indent="-228600" defTabSz="684000">
              <a:lnSpc>
                <a:spcPct val="150000"/>
              </a:lnSpc>
              <a:buFontTx/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1pPr>
            <a:lvl2pPr marL="432000" indent="-228600" defTabSz="684000">
              <a:lnSpc>
                <a:spcPct val="150000"/>
              </a:lnSpc>
              <a:buFontTx/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2pPr>
            <a:lvl3pPr marL="648000" indent="-228600" defTabSz="684000">
              <a:lnSpc>
                <a:spcPct val="150000"/>
              </a:lnSpc>
              <a:buFontTx/>
              <a:buNone/>
              <a:defRPr sz="18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3pPr>
            <a:lvl4pPr marL="864000" indent="-228600" defTabSz="684000">
              <a:lnSpc>
                <a:spcPct val="150000"/>
              </a:lnSpc>
              <a:buFontTx/>
              <a:buNone/>
              <a:defRPr sz="16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4pPr>
            <a:lvl5pPr marL="1080000" indent="-228600" defTabSz="684000">
              <a:lnSpc>
                <a:spcPct val="150000"/>
              </a:lnSpc>
              <a:buFontTx/>
              <a:buNone/>
              <a:defRPr sz="16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2F17500B-70BA-4143-B4BE-32161946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타원 16">
            <a:extLst xmlns:a="http://schemas.openxmlformats.org/drawingml/2006/main">
              <a:ext uri="{FF2B5EF4-FFF2-40B4-BE49-F238E27FC236}">
                <a16:creationId xmlns:a16="http://schemas.microsoft.com/office/drawing/2014/main" id="{07270A9D-1A17-4378-B3C7-CD40C5E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17" y="204284"/>
            <a:ext cx="136800" cy="13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타원 17">
            <a:extLst xmlns:a="http://schemas.openxmlformats.org/drawingml/2006/main">
              <a:ext uri="{FF2B5EF4-FFF2-40B4-BE49-F238E27FC236}">
                <a16:creationId xmlns:a16="http://schemas.microsoft.com/office/drawing/2014/main" id="{BBF98A84-FD37-477D-80EB-7CBF670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36" y="204284"/>
            <a:ext cx="136800" cy="13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8683206A-DB83-45AB-83A8-65943303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55" y="204284"/>
            <a:ext cx="136800" cy="13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fd10747544c8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96508" y="38911"/>
            <a:ext cx="579312" cy="49287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FD68758-A962-43F3-A70E-9C9285A21E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1FE29FA-3476-487D-8ADC-2B0E6E6C3C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32137622-F848-4F75-BBDD-DFE369524B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D2859B59-D295-4591-9AD8-993C93FCF5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87F0930-F265-46E0-ACA8-380CE613F6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F0A03D0-85DE-445F-985A-94F34A54CF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F8932F4D-0FE6-4727-91C8-BA1581B041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A326A8C9-3A8C-433E-9E0E-8D349681CA7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FF8927A5-9CCD-4288-AA7D-50B4EEAFE9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122875A3-4BA8-45C2-915D-D94FC026AF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F8524E03-8183-47E1-9CAC-4F12E790A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1023622-5B78-43A1-A37A-9444D215C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A7E2CE3-B524-4F37-BFDB-8500844123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1524062E-4644-47B9-B802-88412051B11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0B871511-8BA6-4E9B-A8EE-FC66B08F11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C4E4433E-08E7-4B95-B2C3-BB63C91407B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70021011-B373-44FE-A4A5-CA996C5D5D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3F2B6BF5-6731-43DE-8082-03CAD87C5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FDF85565-FAB9-473F-9D2F-FA9975EA06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7F4BA6E4-51DE-4753-A5ED-3EFFCFE9C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992148A8-6EF9-4B12-87CA-1BD864D841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31D2E9B5-3D5E-4E36-8FE2-A72873B24A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CFAA3D75-1153-4999-A5E8-676872A6EA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A91B8153-E874-446E-A510-D8A03802F3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1B4D80EE-65FC-4705-90DD-A5BA3B774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C4DEFA02-4F70-45A2-99BF-8FFD01CA36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5DDBB17-5FBF-42CE-961F-9B6DD56FA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94360E1-6015-44B3-9EDD-3AACADF288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B4B6D12A-A53A-4B20-AEB7-6686C2E09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3AAA87CB-A388-465B-8B22-0CB2007B7B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DD5B777E-1009-499F-9A40-38B917767A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4BDBE86B-79B5-4DD9-8595-D4B04017B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303E0F9-3FF6-4497-BA56-0F873DCF9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507079B2-B238-4C44-8E0A-003C040B4CE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81EA291-857F-4D12-8332-DDB2BE8DE7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7EDD0403-881F-44FD-80B3-3C768CA539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72771514-5659-4109-9CF3-6389AB9129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7B84A5C0-27B7-4603-A7D1-777C3FE89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DA0CF44-4A9F-4C09-BF92-55503BC36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20C1437-D891-4AF0-A5CB-16CA0D2929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6AA0707C-0CF9-4C68-BD8D-0105D7E912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119E58F-D101-46F0-BAF5-EAA0942FE0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E05B4531-A2E9-44A3-AB75-0B21DE1107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36B83446-DFAF-4B2C-A1E7-BCCED2B69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99F752E-3EC5-48B2-9839-F934340FA0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64C2088-4A35-42C7-8E40-C5480F631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977085D-5408-4E51-B5DF-10EE81C4A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119B4F8-60B7-4ECC-BDF9-EF4D308924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1e02128d664bce" /><Relationship Type="http://schemas.openxmlformats.org/officeDocument/2006/relationships/slideLayout" Target="/ppt/slideLayouts/slideLayout1.xml" Id="R206cd2a824854d6e" /><Relationship Type="http://schemas.openxmlformats.org/officeDocument/2006/relationships/slideLayout" Target="/ppt/slideLayouts/slideLayout2.xml" Id="Ra0c13c8770764d25" /><Relationship Type="http://schemas.openxmlformats.org/officeDocument/2006/relationships/slideLayout" Target="/ppt/slideLayouts/slideLayout3.xml" Id="Ra22917f21f614ad3" /><Relationship Type="http://schemas.openxmlformats.org/officeDocument/2006/relationships/slideLayout" Target="/ppt/slideLayouts/slideLayout4.xml" Id="R6771c127b1704ad6" /><Relationship Type="http://schemas.openxmlformats.org/officeDocument/2006/relationships/slideLayout" Target="/ppt/slideLayouts/slideLayout5.xml" Id="R3b6f3f2e2f774c29" /><Relationship Type="http://schemas.openxmlformats.org/officeDocument/2006/relationships/slideLayout" Target="/ppt/slideLayouts/slideLayout6.xml" Id="R1ebb8342c2394e9e" /><Relationship Type="http://schemas.openxmlformats.org/officeDocument/2006/relationships/slideLayout" Target="/ppt/slideLayouts/slideLayout7.xml" Id="Ref382b96421c42c3" /><Relationship Type="http://schemas.openxmlformats.org/officeDocument/2006/relationships/slideLayout" Target="/ppt/slideLayouts/slideLayout8.xml" Id="R12092d8dd3314ac3" /><Relationship Type="http://schemas.openxmlformats.org/officeDocument/2006/relationships/slideLayout" Target="/ppt/slideLayouts/slideLayout9.xml" Id="Rb6ea2af16bc44c04" /><Relationship Type="http://schemas.openxmlformats.org/officeDocument/2006/relationships/slideLayout" Target="/ppt/slideLayouts/slideLayout10.xml" Id="R79866acd0ca14a22" /><Relationship Type="http://schemas.openxmlformats.org/officeDocument/2006/relationships/slideLayout" Target="/ppt/slideLayouts/slideLayout11.xml" Id="Rde1e2c4db5a949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77AE0547-3DBC-4DFD-A143-794FA0F7C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0063A49-04F9-423D-9084-9EF3C3AF29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15857FD1-68CD-4DDD-BD64-264AE03B372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C166AB8-E192-4E34-A83C-CE7B40D998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66B5794E-03CC-48C5-AEF6-8AEA9EFB43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6cd2a824854d6e"/>
    <p:sldLayoutId xmlns:r="http://schemas.openxmlformats.org/officeDocument/2006/relationships" id="2147483650" r:id="Ra0c13c8770764d25"/>
    <p:sldLayoutId xmlns:r="http://schemas.openxmlformats.org/officeDocument/2006/relationships" id="2147483651" r:id="Ra22917f21f614ad3"/>
    <p:sldLayoutId xmlns:r="http://schemas.openxmlformats.org/officeDocument/2006/relationships" id="2147483652" r:id="R6771c127b1704ad6"/>
    <p:sldLayoutId xmlns:r="http://schemas.openxmlformats.org/officeDocument/2006/relationships" id="2147483653" r:id="R3b6f3f2e2f774c29"/>
    <p:sldLayoutId xmlns:r="http://schemas.openxmlformats.org/officeDocument/2006/relationships" id="2147483654" r:id="R1ebb8342c2394e9e"/>
    <p:sldLayoutId xmlns:r="http://schemas.openxmlformats.org/officeDocument/2006/relationships" id="2147483655" r:id="Ref382b96421c42c3"/>
    <p:sldLayoutId xmlns:r="http://schemas.openxmlformats.org/officeDocument/2006/relationships" id="2147483656" r:id="R12092d8dd3314ac3"/>
    <p:sldLayoutId xmlns:r="http://schemas.openxmlformats.org/officeDocument/2006/relationships" id="2147483657" r:id="Rb6ea2af16bc44c04"/>
    <p:sldLayoutId xmlns:r="http://schemas.openxmlformats.org/officeDocument/2006/relationships" id="2147483658" r:id="R79866acd0ca14a22"/>
    <p:sldLayoutId xmlns:r="http://schemas.openxmlformats.org/officeDocument/2006/relationships" id="2147483659" r:id="Rde1e2c4db5a9494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5b61ef6bf485e" /><Relationship Type="http://schemas.openxmlformats.org/officeDocument/2006/relationships/image" Target="/ppt/media/image2.png" Id="R6510fa648d8641b3" /><Relationship Type="http://schemas.openxmlformats.org/officeDocument/2006/relationships/notesSlide" Target="/ppt/notesSlides/notesSlide1.xml" Id="Rc054618c40e04d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a37a601b054480" /><Relationship Type="http://schemas.openxmlformats.org/officeDocument/2006/relationships/notesSlide" Target="/ppt/notesSlides/notesSlide2.xml" Id="R704ee1386d244b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638d5a0dbb4956" /><Relationship Type="http://schemas.openxmlformats.org/officeDocument/2006/relationships/notesSlide" Target="/ppt/notesSlides/notesSlide3.xml" Id="Rbaf3336cf38642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94131c29f447e7" /><Relationship Type="http://schemas.openxmlformats.org/officeDocument/2006/relationships/notesSlide" Target="/ppt/notesSlides/notesSlide4.xml" Id="R661041565fd84e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3edd1b49c4aa7" /><Relationship Type="http://schemas.openxmlformats.org/officeDocument/2006/relationships/notesSlide" Target="/ppt/notesSlides/notesSlide5.xml" Id="R28724a80fbfe48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443dc625b44840" /><Relationship Type="http://schemas.openxmlformats.org/officeDocument/2006/relationships/notesSlide" Target="/ppt/notesSlides/notesSlide6.xml" Id="Rdeea85aa54754b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99bf7c65d84ff2" /><Relationship Type="http://schemas.openxmlformats.org/officeDocument/2006/relationships/notesSlide" Target="/ppt/notesSlides/notesSlide7.xml" Id="Rd78bc350250a42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55555ff0c64e8e" /><Relationship Type="http://schemas.openxmlformats.org/officeDocument/2006/relationships/notesSlide" Target="/ppt/notesSlides/notesSlide8.xml" Id="R0067da4e8b4844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919b2e98754473" /><Relationship Type="http://schemas.openxmlformats.org/officeDocument/2006/relationships/notesSlide" Target="/ppt/notesSlides/notesSlide9.xml" Id="R47eaf2f086104d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11ba96c874c34" /><Relationship Type="http://schemas.openxmlformats.org/officeDocument/2006/relationships/notesSlide" Target="/ppt/notesSlides/notesSlide10.xml" Id="R435c88f004bf40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bdff7300664e7d" /><Relationship Type="http://schemas.openxmlformats.org/officeDocument/2006/relationships/notesSlide" Target="/ppt/notesSlides/notesSlide11.xml" Id="R66cce76af04149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5d473156084e9c" /><Relationship Type="http://schemas.openxmlformats.org/officeDocument/2006/relationships/notesSlide" Target="/ppt/notesSlides/notesSlide12.xml" Id="R162939d90d6142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618a94f85e48c6" /><Relationship Type="http://schemas.openxmlformats.org/officeDocument/2006/relationships/notesSlide" Target="/ppt/notesSlides/notesSlide13.xml" Id="R894ff6432c7243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8d219fd7744a8" /><Relationship Type="http://schemas.openxmlformats.org/officeDocument/2006/relationships/notesSlide" Target="/ppt/notesSlides/notesSlide14.xml" Id="R7a510c99a23a4a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4714483-7072-431F-9DBE-87F44E4D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95892E1-F4A5-4991-AC52-4F417B14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5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A6E12753-0A63-43EE-B28A-C989D033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 flipH="0" flipV="0">
            <a:off x="7942191" y="2507571"/>
            <a:ext cx="3563871" cy="35638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10000"/>
                  </a:schemeClr>
                </a:gs>
                <a:gs pos="100000">
                  <a:schemeClr val="tx2">
                    <a:lumMod val="50000"/>
                    <a:alpha val="2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B26FA385-76DA-40E9-9257-AA3E07FF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0435065" y="4048931"/>
            <a:ext cx="1381607" cy="138160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20000"/>
                  </a:schemeClr>
                </a:gs>
                <a:gs pos="100000">
                  <a:schemeClr val="tx2">
                    <a:lumMod val="50000"/>
                    <a:alpha val="2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262D75CA-F374-4878-8106-3EA5E97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" y="2075420"/>
            <a:ext cx="3144364" cy="314436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tx2">
                  <a:lumMod val="75000"/>
                  <a:alpha val="20000"/>
                </a:schemeClr>
              </a:gs>
              <a:gs pos="100000">
                <a:schemeClr val="tx2">
                  <a:lumMod val="50000"/>
                  <a:alpha val="10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938667A5-74E3-4EFD-8C45-F48F4742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0" flipH="0" flipV="0">
            <a:off x="10150845" y="4270841"/>
            <a:ext cx="1897885" cy="189788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75000"/>
                  <a:alpha val="20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31512EE2-F4CC-4E18-9CDA-B92C1112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 flipH="0" flipV="0">
            <a:off x="2046780" y="3040492"/>
            <a:ext cx="2579322" cy="25793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20000"/>
                  </a:schemeClr>
                </a:gs>
                <a:gs pos="100000">
                  <a:schemeClr val="tx2">
                    <a:lumMod val="50000"/>
                    <a:alpha val="2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B99E503B-9B4D-4EE3-A50F-15AC374F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 flipH="0" flipV="0">
            <a:off x="2224640" y="3193975"/>
            <a:ext cx="2243193" cy="224319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1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2683E3F-F855-4549-84F8-42064EC0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38146" y="1042605"/>
            <a:ext cx="2796461" cy="7112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Straight Connector 37">
            <a:extLst xmlns:a="http://schemas.openxmlformats.org/drawingml/2006/main">
              <a:ext uri="{FF2B5EF4-FFF2-40B4-BE49-F238E27FC236}">
                <a16:creationId xmlns:a16="http://schemas.microsoft.com/office/drawing/2014/main" id="{F49C030A-DD52-42DD-8E7A-855A8686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9539" y="317578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75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C12708D7-940E-4056-ADB3-925C56F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9539" y="500580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75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Straight Connector 39">
            <a:extLst xmlns:a="http://schemas.openxmlformats.org/drawingml/2006/main">
              <a:ext uri="{FF2B5EF4-FFF2-40B4-BE49-F238E27FC236}">
                <a16:creationId xmlns:a16="http://schemas.microsoft.com/office/drawing/2014/main" id="{C6134677-01F1-4200-AFC4-C764E659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9539" y="683582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75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Straight Connector 40">
            <a:extLst xmlns:a="http://schemas.openxmlformats.org/drawingml/2006/main">
              <a:ext uri="{FF2B5EF4-FFF2-40B4-BE49-F238E27FC236}">
                <a16:creationId xmlns:a16="http://schemas.microsoft.com/office/drawing/2014/main" id="{9187E22A-E9B9-4FBC-B860-231D69BA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9539" y="866585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75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832F3179-0CD5-40C8-9939-D8355006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" y="6140785"/>
            <a:ext cx="6095997" cy="7112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Straight Connector 45">
            <a:extLst xmlns:a="http://schemas.openxmlformats.org/drawingml/2006/main">
              <a:ext uri="{FF2B5EF4-FFF2-40B4-BE49-F238E27FC236}">
                <a16:creationId xmlns:a16="http://schemas.microsoft.com/office/drawing/2014/main" id="{FF1615B9-CD4E-4784-811B-708E9FF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345" y="5940560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50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CFB845FA-8E17-404E-80A6-2C1660B6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345" y="6123562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50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Straight Connector 47">
            <a:extLst xmlns:a="http://schemas.openxmlformats.org/drawingml/2006/main">
              <a:ext uri="{FF2B5EF4-FFF2-40B4-BE49-F238E27FC236}">
                <a16:creationId xmlns:a16="http://schemas.microsoft.com/office/drawing/2014/main" id="{D11C1291-D3B3-481D-A1EE-2F40DE87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345" y="6306564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50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Straight Connector 48">
            <a:extLst xmlns:a="http://schemas.openxmlformats.org/drawingml/2006/main">
              <a:ext uri="{FF2B5EF4-FFF2-40B4-BE49-F238E27FC236}">
                <a16:creationId xmlns:a16="http://schemas.microsoft.com/office/drawing/2014/main" id="{3C5D2EED-9952-4075-B248-3FF7012B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345" y="6489567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50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9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0fa648d8641b3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xmlns:a="http://schemas.openxmlformats.org/drawingml/2006/main" l="22222" t="0" r="2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655" y="29548"/>
            <a:ext cx="10691307" cy="6013845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65502F9-2C8C-4311-996C-269BFD3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937" y="4036402"/>
            <a:ext cx="7315200" cy="27020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HCI와 커뮤니케이션 4주차</a:t>
            </a:r>
          </a:p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어포던스와 시그니파이어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D00B645-EF47-F352-FE7D-4262FD02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26" y="4942788"/>
            <a:ext cx="4308588" cy="17208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온라인 요약 · 오프라인 실습</a:t>
            </a:r>
            <a:endParaRPr kern="1200">
              <a:solidFill>
                <a:schemeClr val="bg1"/>
              </a:solidFill>
              <a:latin typeface="12롯데마트드림Bold"/>
              <a:ea typeface="12롯데마트드림Bold"/>
              <a:cs typeface="12롯데마트드림Bold"/>
            </a:endParaRPr>
          </a:p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「노만의 공방」</a:t>
            </a:r>
            <a:endParaRPr kern="1200">
              <a:solidFill>
                <a:schemeClr val="bg1"/>
              </a:solidFill>
              <a:latin typeface="12롯데마트드림Bold"/>
              <a:ea typeface="12롯데마트드림Bold"/>
              <a:cs typeface="12롯데마트드림Bold"/>
            </a:endParaRPr>
          </a:p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박윤정 교수</a:t>
            </a:r>
            <a:endParaRPr kern="1200">
              <a:solidFill>
                <a:schemeClr val="bg1"/>
              </a:solidFill>
              <a:latin typeface="12롯데마트드림Bold"/>
              <a:ea typeface="12롯데마트드림Bold"/>
              <a:cs typeface="12롯데마트드림Bold"/>
            </a:endParaRPr>
          </a:p>
        </p:txBody>
      </p:sp>
    </p:spTree>
    <p:extLst>
      <p:ext uri="{BB962C8B-B14F-4D97-AF65-F5344CB8AC3E}">
        <p14:creationId xmlns:p14="http://schemas.microsoft.com/office/powerpoint/2010/main" val="39294515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1D80C-CB43-4A22-B844-2F06DD88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3DC58-797C-4B88-A575-E7F5EDA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이번 주의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2FDEC-F940-4FB4-A039-C2574E41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3~4쪽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6EBFB-E589-4C8B-85B5-665F3B3A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933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처음 보는 문 앞에서 밀지 당길지를 어떻게 아는가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가로 손잡이는 내려서 열기, 동그란 손잡이는 돌리기로 읽힌다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문을 잘못 미는 일은 사용자의 실수보다 문의 설계 문제에 가깝다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오늘의 세 개념: 어포던스, 시그니파이어, 두 개의 간극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AF7D5-3F77-4DA1-87B7-0F36A603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E32DC-4DA8-472D-86AF-3729DA73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어포던스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CEF3B-4135-4687-8D0C-18141CC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5~11쪽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A93CB-47E5-4119-B795-692F3A3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933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깁슨(1977): 환경이 행위자에게 제공하는 행동 가능성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사물의 속성이 아니라 사물과 행위자의 관계 속에 있다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의자는 앉기, 밟고 올라서기, 문 고정, 던지기까지 허용할 수 있다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같은 창문도 도둑에겐 기어오를 가능성이지만 아이에겐 아닐 수 있다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알아차리지 못해도 어포던스는 이미 있다. 다만 쓰이지 못한다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15A22-D8D6-4C9E-B54D-089A5CE7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B6567-767C-4573-AEC9-C061C8CC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시그니파이어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8B8EA-26FE-419E-A02C-53824E52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12~16쪽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1FF9D-1BB5-4742-AFE4-08066B3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286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노먼(1988)은 ‘지각된 어포던스’를 HCI에 들여왔다</a:t>
            </a:r>
          </a:p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노먼(2008)의 2쪽짜리 글 제목: Signifiers, not affordances</a:t>
            </a:r>
          </a:p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“이 버튼에 어포던스를 추가했다”는 말은 정확하지 않다</a:t>
            </a:r>
          </a:p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대부분의 문은 밀기와 당기기를 모두 허용한다. 차이는 시그니파이어에서 난다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715125" y="2133600"/>
          <a:ext xmlns:a="http://schemas.openxmlformats.org/drawingml/2006/main" cx="4524375" cy="1619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08125"/>
                <a:gridCol w="1508125"/>
                <a:gridCol w="1508125"/>
              </a:tblGrid>
              <a:tr h="5397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어포던스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시그니파이어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어디에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사물과 행위자의 관계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디자이너가 보이게 만든 단서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더할 수 있나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아니오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F4F5A-7C42-40E7-8CBE-7FD9DEAB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A7C28-2C9E-456A-8550-0A04424D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갈라 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912A2-8D0D-4097-A6CD-B3031EA9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17~21쪽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A1D56-EB90-4AA1-A6AD-EBB64B79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933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개버(1991): 지각 가능한 어포던스, 숨은 어포던스, 거짓 어포던스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하트슨(2003): 물리적, 감각적, 인지적, 기능적 어포던스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‘밀어서 잠금해제’는 손잡이, 문구와 화살표, 밝은 대비, 실제 해제가 함께 작동한다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제약은 할 수 없는 쪽을 막아서 알린다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관습은 배운다. 파란 밑줄은 링크, 세 줄 아이콘은 차림표로 읽힌다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9AB5B-6494-4628-AF3F-B35053FA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3337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5DCE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rPr>
              <a:t>제약의 네 갈래</a:t>
            </a:r>
          </a:p>
          <a:p xmlns:a="http://schemas.openxmlformats.org/drawingml/2006/main">
            <a:pPr>
              <a:def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rPr>
              <a:t>물리적 · 의미적 · 문화적 · 논리적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667A7-A68B-4EA3-9E35-FA3C2826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99A02-8377-44AC-8889-CA50739B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두 개의 간극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BCE84-395A-4822-8853-7935CD5C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22~26쪽 요약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6334125" cy="2238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11375"/>
                <a:gridCol w="2111375"/>
                <a:gridCol w="2111375"/>
              </a:tblGrid>
              <a:tr h="5595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실행의 간극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평가의 간극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 모르나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 해야 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무슨 일이 일어났는지</a:t>
                      </a:r>
                    </a:p>
                  </a:txBody>
                  <a:tcPr marL="91440" marR="91440" marT="45720" marB="45720"/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시그니파이어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피드백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처음 보는 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엘리베이터 닫힘 버튼 연타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5CC7F-F3ED-4A6D-8F9E-33D558E8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스키우모피즘과 플랫 디자인의 논쟁은 단서를 얼마나 덜어 낼 수 있는가의 문제였다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정리: 어포던스는 더하거나 뺄 수 없다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디자이너가 더하는 것은 시그니파이어다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9BD11-97A2-4947-8B06-E79C084E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4A813-3DCA-4863-AE66-0097E9C9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오늘 할 일: 노만의 공방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EDFBF-903F-4CCA-A795-F8C73BB2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주소: retro-app-six.vercel.app/norman/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조별로 들어간다. PC 여러 대로 들어와도 같은 공방을 본다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여러분은 앱 화면을 고쳐 파는 장인이다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주문으로 들어온 화면은 이미 다 작동한다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기능은 손대지 못한다. 붙일 수 있는 것은 단서뿐이다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39C50-0FB0-4C1F-B162-0740C4DD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조 고르는 첫 화면</a:t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20개 조 격자 + ‘공방 문을 연다’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5F0BB-0B37-46F5-975A-C94DD3F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DFB09-22CE-4771-84B0-059CAAB7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한 바퀴 돌아보기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5237C-10B5-461E-B543-9AE389C0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7626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5DCE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rPr>
              <a:t>주문서 받기 → 상점에서 재료 사기 → 제작대에서 합치기</a:t>
            </a:r>
          </a:p>
          <a:p xmlns:a="http://schemas.openxmlformats.org/drawingml/2006/main">
            <a:pPr>
              <a:def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rPr>
              <a:t>→ 화면에 끌어다 붙이기 → 테스트해 보기 → 앱시장에 내놓기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ECAA6-C099-41FA-AE0F-0AAE14C7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밑천 1,000 포인트로 시작</a:t>
            </a:r>
          </a:p>
          <a:p xmlns:a="http://schemas.openxmlformats.org/drawingml/2006/main">
            <a:pPr>
              <a:def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하나 팔면 다음 의뢰가 들어온다</a:t>
            </a:r>
          </a:p>
          <a:p xmlns:a="http://schemas.openxmlformats.org/drawingml/2006/main">
            <a:pPr>
              <a:def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의뢰는 모두 40가지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F77B5-D1A7-4D02-B1E9-49FCC32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공방 작업대 전체</a:t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왼쪽 선반 · 가운데 주문서와 앱 화면 · 오른쪽 제작대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99831-ABC6-4954-8754-F0635558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C4B47-231A-4A32-839E-F61A674C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상점: 재료를 삽니다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2AA94-7877-4918-A9F7-25EAE6CF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시그니파이어가 될 재료를 파는 곳</a:t>
            </a:r>
          </a:p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재료를 합쳐서 하나의 시그니파이어를 만든다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95350" y="2571750"/>
          <a:ext xmlns:a="http://schemas.openxmlformats.org/drawingml/2006/main" cx="5286375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21594"/>
                <a:gridCol w="1321594"/>
                <a:gridCol w="1321594"/>
                <a:gridCol w="1321594"/>
              </a:tblGrid>
              <a:tr h="4667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재료</a:t>
                      </a:r>
                    </a:p>
                  </a:txBody>
                  <a:tcPr marL="91440" marR="91440" marT="45720" marB="45720">
                    <a:solidFill>
                      <a:srgbClr val="4F87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91440" marR="91440" marT="45720" marB="45720">
                    <a:solidFill>
                      <a:srgbClr val="4F87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재료</a:t>
                      </a:r>
                    </a:p>
                  </a:txBody>
                  <a:tcPr marL="91440" marR="91440" marT="45720" marB="45720">
                    <a:solidFill>
                      <a:srgbClr val="4F87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91440" marR="91440" marT="45720" marB="45720">
                    <a:solidFill>
                      <a:srgbClr val="4F873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글자 · 그림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테두리 · 진한 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30P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깜박임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40P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큰 크기 · 화살표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30P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 · 그늘 · 떨림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30P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체크 표시 · 소리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40P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밑줄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20P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2D665-5AF7-4149-A7A5-B8028748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상점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2C3CD-1E1E-497E-AE43-151559E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0FA83-9797-4463-B916-D18DB9E1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제작대: 둘을 합쳐 단서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44214-2A7E-421D-AA38-7150AEE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테두리 + 깜박임 → 깜박이는 입력칸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글자 + 테두리 → 라벨 붙은 요소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그늘 + 테두리 → 터치 반응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글자 + 쪽지 → 알림 쪽지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만든 단서를 끌어다 화면 위에 놓으면 붙는다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E5B01-10F6-4106-BB81-EFD112F5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제작대</a:t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재료 두 칸 + 만들기 + 만든 단서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FCD51-797A-4CA4-83A0-96F2C4DE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CB24B-B5C1-4BD0-A64C-27B4A254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막히면: 단서 조합표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1DFEF-B431-49B5-B0CF-CEC67257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테스트를 돌리면 ‘사용자가 막힌 이유’가 나온다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굵은 글씨가 모자란 단서의 이름이다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예: 조작한 뒤 결과 알려주기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제작대 맨 아래 조합표에서 같은 묶음을 찾는다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그 줄의 재료를 상점에서 사 오면 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A06CD-4C94-45D3-88EC-86C0C766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76400"/>
            <a:ext cx="40005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테스트 결과 카드 + 단서 조합표</a:t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두 장을 나란히 배치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B8FE3-0C80-4CAB-8D0A-F893DFDF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C7D90-A961-4A9B-8F59-45A8A9BE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앱시장: 팔러 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72F34-4BB1-44EB-9D7C-9DAC326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테스트에서 막히는 데가 없어야 내놓을 수 있다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화면 하나에 100~200 포인트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과제 경로 밖까지 챙기면 가격이 오른다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군더더기 없이 적은 단서로 해결하면 가격이 오른다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터치되지 않는 곳에 터치돼 보이는 단서를 붙이면 감점된다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팔면 다음 의뢰가 들어온다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1F116-F592-452A-AE75-AE3D1771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앱시장 출품 심사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36B01-903F-446C-92FA-6C17CDE7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03C33-F21D-4817-9141-0989F32E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돈이 떨어지면: 문제 풀기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58790-FDF7-44A0-8F24-A0F185E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재료 값이 버는 것보다 크다. 반드시 쪼들린다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초상화가 빛나면 노만 영감이 말을 거는 것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초상화를 클릭하면 퀴즈가 시작된다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온라인 강의 내용 16문제. 맞히면 40 포인트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한 문제는 한 번만 답할 수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3AE1B-D4A3-4D4B-80FD-38BED371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문제 풀기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66417-E49F-4630-99C9-E96E0A85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9D667-D501-47F4-ABD7-930026BB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마무리: 실습보고서 내려받기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43636-EDEF-4EBF-BC3F-59B8C083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‘조별 활동 종료’가 되면 모든 조의 포인트 적립이 중지된다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각자 화면에 ‘실습보고서 내려받기’가 뜬다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한 사람씩 각자 내려받는다. 워드와 한글에서 열린다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숫자는 이미 기록된다. 학번, 이름, 나머지 문항을 채우면 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AEA87-9510-4B02-B6C8-AFBB4A1F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종료 화면 + 워크북 1쪽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C2530-F41F-4E31-95DF-964006FD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촬영 메모: 연습용 조(예: 20조)로 촬영하고, 수업 전 admin에서 해당 조를 되돌립니다.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2026-09-22T01:10:29.2670000Z</dcterms:created>
  <dcterms:modified xsi:type="dcterms:W3CDTF">2026-09-22T01:10:29.2670000Z</dcterms:modified>
</coreProperties>
</file>