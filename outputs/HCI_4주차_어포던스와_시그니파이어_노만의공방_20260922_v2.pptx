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df32bef9de4b2e" /><Relationship Type="http://schemas.openxmlformats.org/officeDocument/2006/relationships/extended-properties" Target="/docProps/app.xml" Id="R812656802ff446b9" /><Relationship Type="http://schemas.openxmlformats.org/officeDocument/2006/relationships/officeDocument" Target="/ppt/presentation.xml" Id="Re491237dea4d4e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eba3c1d0564a11"/>
  </p:sldMasterIdLst>
  <p:notesMasterIdLst>
    <p:notesMasterId xmlns:r="http://schemas.openxmlformats.org/officeDocument/2006/relationships" r:id="Re54dcebdce264227"/>
  </p:notesMasterIdLst>
  <p:sldIdLst>
    <p:sldId xmlns:r="http://schemas.openxmlformats.org/officeDocument/2006/relationships" id="256" r:id="R52c426f2cad14021"/>
    <p:sldId xmlns:r="http://schemas.openxmlformats.org/officeDocument/2006/relationships" id="257" r:id="R0d885a129afd49f2"/>
    <p:sldId xmlns:r="http://schemas.openxmlformats.org/officeDocument/2006/relationships" id="258" r:id="Rc2b159b69e294e91"/>
    <p:sldId xmlns:r="http://schemas.openxmlformats.org/officeDocument/2006/relationships" id="259" r:id="Rff0eb17332fd490e"/>
    <p:sldId xmlns:r="http://schemas.openxmlformats.org/officeDocument/2006/relationships" id="260" r:id="R8fc75c33b72e444c"/>
    <p:sldId xmlns:r="http://schemas.openxmlformats.org/officeDocument/2006/relationships" id="261" r:id="Rdbb468ef0fc442ce"/>
    <p:sldId xmlns:r="http://schemas.openxmlformats.org/officeDocument/2006/relationships" id="262" r:id="R2be4bafad75c4206"/>
    <p:sldId xmlns:r="http://schemas.openxmlformats.org/officeDocument/2006/relationships" id="263" r:id="Rdfb62fd3575f4c57"/>
    <p:sldId xmlns:r="http://schemas.openxmlformats.org/officeDocument/2006/relationships" id="264" r:id="Rddb3e9d8f9b2497b"/>
    <p:sldId xmlns:r="http://schemas.openxmlformats.org/officeDocument/2006/relationships" id="265" r:id="Rbd214564b95a447a"/>
    <p:sldId xmlns:r="http://schemas.openxmlformats.org/officeDocument/2006/relationships" id="266" r:id="R6b3a5889e76d4a23"/>
    <p:sldId xmlns:r="http://schemas.openxmlformats.org/officeDocument/2006/relationships" id="267" r:id="R1e6fda6ece91417b"/>
    <p:sldId xmlns:r="http://schemas.openxmlformats.org/officeDocument/2006/relationships" id="268" r:id="R7e0a2591ecdb494d"/>
    <p:sldId xmlns:r="http://schemas.openxmlformats.org/officeDocument/2006/relationships" id="269" r:id="R6310c69846ed40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73528013e4f58" /><Relationship Type="http://schemas.openxmlformats.org/officeDocument/2006/relationships/slideMaster" Target="/ppt/slideMasters/slideMaster1.xml" Id="R70eba3c1d0564a11" /><Relationship Type="http://schemas.openxmlformats.org/officeDocument/2006/relationships/notesMaster" Target="/ppt/notesMasters/notesMaster1.xml" Id="Re54dcebdce264227" /><Relationship Type="http://schemas.openxmlformats.org/officeDocument/2006/relationships/presProps" Target="/ppt/presProps.xml" Id="R855c8264680e4349" /><Relationship Type="http://schemas.openxmlformats.org/officeDocument/2006/relationships/viewProps" Target="/ppt/viewProps.xml" Id="R7f9590c23f694b5a" /><Relationship Type="http://schemas.openxmlformats.org/officeDocument/2006/relationships/tableStyles" Target="/ppt/tableStyles.xml" Id="Ra73c9d9dbae14ef8" /><Relationship Type="http://schemas.openxmlformats.org/officeDocument/2006/relationships/slide" Target="/ppt/slides/slide1.xml" Id="R52c426f2cad14021" /><Relationship Type="http://schemas.openxmlformats.org/officeDocument/2006/relationships/slide" Target="/ppt/slides/slide2.xml" Id="R0d885a129afd49f2" /><Relationship Type="http://schemas.openxmlformats.org/officeDocument/2006/relationships/slide" Target="/ppt/slides/slide3.xml" Id="Rc2b159b69e294e91" /><Relationship Type="http://schemas.openxmlformats.org/officeDocument/2006/relationships/slide" Target="/ppt/slides/slide4.xml" Id="Rff0eb17332fd490e" /><Relationship Type="http://schemas.openxmlformats.org/officeDocument/2006/relationships/slide" Target="/ppt/slides/slide5.xml" Id="R8fc75c33b72e444c" /><Relationship Type="http://schemas.openxmlformats.org/officeDocument/2006/relationships/slide" Target="/ppt/slides/slide6.xml" Id="Rdbb468ef0fc442ce" /><Relationship Type="http://schemas.openxmlformats.org/officeDocument/2006/relationships/slide" Target="/ppt/slides/slide7.xml" Id="R2be4bafad75c4206" /><Relationship Type="http://schemas.openxmlformats.org/officeDocument/2006/relationships/slide" Target="/ppt/slides/slide8.xml" Id="Rdfb62fd3575f4c57" /><Relationship Type="http://schemas.openxmlformats.org/officeDocument/2006/relationships/slide" Target="/ppt/slides/slide9.xml" Id="Rddb3e9d8f9b2497b" /><Relationship Type="http://schemas.openxmlformats.org/officeDocument/2006/relationships/slide" Target="/ppt/slides/slide10.xml" Id="Rbd214564b95a447a" /><Relationship Type="http://schemas.openxmlformats.org/officeDocument/2006/relationships/slide" Target="/ppt/slides/slide11.xml" Id="R6b3a5889e76d4a23" /><Relationship Type="http://schemas.openxmlformats.org/officeDocument/2006/relationships/slide" Target="/ppt/slides/slide12.xml" Id="R1e6fda6ece91417b" /><Relationship Type="http://schemas.openxmlformats.org/officeDocument/2006/relationships/slide" Target="/ppt/slides/slide13.xml" Id="R7e0a2591ecdb494d" /><Relationship Type="http://schemas.openxmlformats.org/officeDocument/2006/relationships/slide" Target="/ppt/slides/slide14.xml" Id="R6310c69846ed40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b54c698c76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bbcd63f1584ab7" /><Relationship Type="http://schemas.openxmlformats.org/officeDocument/2006/relationships/notesMaster" Target="/ppt/notesMasters/notesMaster1.xml" Id="R426b14529a6248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6e48496a4b4d07" /><Relationship Type="http://schemas.openxmlformats.org/officeDocument/2006/relationships/notesMaster" Target="/ppt/notesMasters/notesMaster1.xml" Id="R174770ce20064f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77751e6d30466b" /><Relationship Type="http://schemas.openxmlformats.org/officeDocument/2006/relationships/notesMaster" Target="/ppt/notesMasters/notesMaster1.xml" Id="R9c326f86dc9a4c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db23841d448ec" /><Relationship Type="http://schemas.openxmlformats.org/officeDocument/2006/relationships/notesMaster" Target="/ppt/notesMasters/notesMaster1.xml" Id="R42e0c01a939244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2d30b063334661" /><Relationship Type="http://schemas.openxmlformats.org/officeDocument/2006/relationships/notesMaster" Target="/ppt/notesMasters/notesMaster1.xml" Id="R43e39173060645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ecdaf326784055" /><Relationship Type="http://schemas.openxmlformats.org/officeDocument/2006/relationships/notesMaster" Target="/ppt/notesMasters/notesMaster1.xml" Id="R69ac0205a9de4e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c4f94d1b934390" /><Relationship Type="http://schemas.openxmlformats.org/officeDocument/2006/relationships/notesMaster" Target="/ppt/notesMasters/notesMaster1.xml" Id="R7d24e48b53084f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1784df4ae049dc" /><Relationship Type="http://schemas.openxmlformats.org/officeDocument/2006/relationships/notesMaster" Target="/ppt/notesMasters/notesMaster1.xml" Id="Rb243f6490c6c40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d7a735e42942d4" /><Relationship Type="http://schemas.openxmlformats.org/officeDocument/2006/relationships/notesMaster" Target="/ppt/notesMasters/notesMaster1.xml" Id="Ra7a93c74f8d64d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50dd26954c4aa5" /><Relationship Type="http://schemas.openxmlformats.org/officeDocument/2006/relationships/notesMaster" Target="/ppt/notesMasters/notesMaster1.xml" Id="Rcb7832469ad047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309b4134d74588" /><Relationship Type="http://schemas.openxmlformats.org/officeDocument/2006/relationships/notesMaster" Target="/ppt/notesMasters/notesMaster1.xml" Id="R3ed459a5e59b4c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222f876aa14302" /><Relationship Type="http://schemas.openxmlformats.org/officeDocument/2006/relationships/notesMaster" Target="/ppt/notesMasters/notesMaster1.xml" Id="Rbbdd12a72bd14e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77fa44e35d4c81" /><Relationship Type="http://schemas.openxmlformats.org/officeDocument/2006/relationships/notesMaster" Target="/ppt/notesMasters/notesMaster1.xml" Id="Rbfdc0ba5868d40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4c1e340f994c28" /><Relationship Type="http://schemas.openxmlformats.org/officeDocument/2006/relationships/notesMaster" Target="/ppt/notesMasters/notesMaster1.xml" Id="Raab1b37447c54f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배경: retroApp/public/norman/img/bench.webp를 PNG로 변환해 삽입.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3~4쪽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5~11쪽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12~16쪽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17~21쪽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22~26쪽 요약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/norman/ 접속 직후. 실서버에서 Firebase 초기화 후 팀 격자가 보이는 상태로 촬영.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조 선택 후 입장. 창 너비 1400px 이상 권장.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상단 ‘상점’ 클릭.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공방 화면 오른쪽 제작대 패널.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테스트해 보기 누른 뒤 결과 카드와 제작대 하단 단서 조합표가 함께 보이게 촬영.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테스트 통과 후 ‘앱시장에 내놓기’ 클릭.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촬영: 상단 ‘문제 풀기’ 또는 빛나는 노만 초상화 클릭.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스냅샷 촬영 목록</a:t>
            </a:r>
          </a:p>
          <a:p xmlns:a="http://schemas.openxmlformats.org/drawingml/2006/main">
            <a:r>
              <a:t>① 조 고르기: /norman/ 접속 직후</a:t>
            </a:r>
          </a:p>
          <a:p xmlns:a="http://schemas.openxmlformats.org/drawingml/2006/main">
            <a:r>
              <a:t>② 공방 작업대 전체: 조 선택 후 입장, 창 1400px 이상 권장</a:t>
            </a:r>
          </a:p>
          <a:p xmlns:a="http://schemas.openxmlformats.org/drawingml/2006/main">
            <a:r>
              <a:t>③ 상점: 상단 상점</a:t>
            </a:r>
          </a:p>
          <a:p xmlns:a="http://schemas.openxmlformats.org/drawingml/2006/main">
            <a:r>
              <a:t>④ 제작대: 공방 화면 오른쪽 패널</a:t>
            </a:r>
          </a:p>
          <a:p xmlns:a="http://schemas.openxmlformats.org/drawingml/2006/main">
            <a:r>
              <a:t>⑤ 테스트 결과 + 조합표: 테스트해 보기 누른 뒤</a:t>
            </a:r>
          </a:p>
          <a:p xmlns:a="http://schemas.openxmlformats.org/drawingml/2006/main">
            <a:r>
              <a:t>⑥ 앱시장: 테스트 통과 후 앱시장에 내놓기</a:t>
            </a:r>
          </a:p>
          <a:p xmlns:a="http://schemas.openxmlformats.org/drawingml/2006/main">
            <a:r>
              <a:t>⑦ 문제 풀기: 상단 문제 풀기</a:t>
            </a:r>
          </a:p>
          <a:p xmlns:a="http://schemas.openxmlformats.org/drawingml/2006/main">
            <a:r>
              <a:t>⑧ 종료 + 워크북: /norman/board.html에서 종료 후 학생 화면</a:t>
            </a:r>
          </a:p>
          <a:p xmlns:a="http://schemas.openxmlformats.org/drawingml/2006/main">
            <a:r>
              <a:t>촬영은 연습용 조로 하고, 수업 전 /norman/admin.html에서 그 조를 되돌리기.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add444e7064e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493f8b97e45c0" /><Relationship Type="http://schemas.openxmlformats.org/officeDocument/2006/relationships/image" Target="/ppt/media/image.png" Id="R4aedb50cbb8547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88f61947d47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795963c4a45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ea646311041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795f004524ae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766396026428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4ca3dbe6d4e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bc97d11e4044a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806daae0bb4e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f411c08b14709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8F9A21F5-5B54-412A-A2BC-5539976F21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9AD07D73-B4A2-4248-B4B1-300774544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386C5DA4-2745-4E6D-BC2C-98CFCDC1D4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94574981-2FD4-4BCA-9326-65812E4C16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ADD667BE-0BAB-48B8-A99B-CF1335E29C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3114ABA-C65D-4938-B18E-30BB438B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3018"/>
            <a:ext cx="12192000" cy="63262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83AE652-2089-4D60-9059-79C4C1BAAC9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38199" y="849022"/>
            <a:ext cx="10184859" cy="4639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algn="l">
              <a:buNone/>
              <a:defRPr sz="2600">
                <a:solidFill>
                  <a:schemeClr val="accent5">
                    <a:lumMod val="75000"/>
                  </a:schemeClr>
                </a:solidFill>
                <a:latin typeface="에스코어 드림 8 Heavy"/>
                <a:ea typeface="에스코어 드림 8 Heavy"/>
                <a:cs typeface="에스코어 드림 8 Heavy"/>
              </a:defRPr>
            </a:lvl1pPr>
          </a:lstStyle>
          <a:p xmlns:a="http://schemas.openxmlformats.org/drawingml/2006/main">
            <a:r>
              <a:t>제목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F87531FD-F333-4728-A563-650D88AF45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199" y="1568972"/>
            <a:ext cx="10184859" cy="502264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28600" indent="-228600" defTabSz="684000">
              <a:lnSpc>
                <a:spcPct val="150000"/>
              </a:lnSpc>
              <a:buFontTx/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1pPr>
            <a:lvl2pPr marL="432000" indent="-228600" defTabSz="684000">
              <a:lnSpc>
                <a:spcPct val="150000"/>
              </a:lnSpc>
              <a:buFontTx/>
              <a:buNone/>
              <a:defRPr sz="20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2pPr>
            <a:lvl3pPr marL="648000" indent="-228600" defTabSz="684000">
              <a:lnSpc>
                <a:spcPct val="150000"/>
              </a:lnSpc>
              <a:buFontTx/>
              <a:buNone/>
              <a:defRPr sz="18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3pPr>
            <a:lvl4pPr marL="864000" indent="-228600" defTabSz="684000">
              <a:lnSpc>
                <a:spcPct val="150000"/>
              </a:lnSpc>
              <a:buFontTx/>
              <a:buNone/>
              <a:defRPr sz="16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4pPr>
            <a:lvl5pPr marL="1080000" indent="-228600" defTabSz="684000">
              <a:lnSpc>
                <a:spcPct val="150000"/>
              </a:lnSpc>
              <a:buFontTx/>
              <a:buNone/>
              <a:defRPr sz="1600">
                <a:solidFill>
                  <a:schemeClr val="accent5">
                    <a:lumMod val="50000"/>
                  </a:schemeClr>
                </a:solidFill>
                <a:latin typeface="에스코어 드림 4 Regular"/>
                <a:ea typeface="에스코어 드림 4 Regular"/>
                <a:cs typeface="에스코어 드림 4 Regular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2F17500B-70BA-4143-B4BE-32161946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3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타원 16">
            <a:extLst xmlns:a="http://schemas.openxmlformats.org/drawingml/2006/main">
              <a:ext uri="{FF2B5EF4-FFF2-40B4-BE49-F238E27FC236}">
                <a16:creationId xmlns:a16="http://schemas.microsoft.com/office/drawing/2014/main" id="{07270A9D-1A17-4378-B3C7-CD40C5E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17" y="204284"/>
            <a:ext cx="136800" cy="13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타원 17">
            <a:extLst xmlns:a="http://schemas.openxmlformats.org/drawingml/2006/main">
              <a:ext uri="{FF2B5EF4-FFF2-40B4-BE49-F238E27FC236}">
                <a16:creationId xmlns:a16="http://schemas.microsoft.com/office/drawing/2014/main" id="{BBF98A84-FD37-477D-80EB-7CBF670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836" y="204284"/>
            <a:ext cx="136800" cy="13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타원 18">
            <a:extLst xmlns:a="http://schemas.openxmlformats.org/drawingml/2006/main">
              <a:ext uri="{FF2B5EF4-FFF2-40B4-BE49-F238E27FC236}">
                <a16:creationId xmlns:a16="http://schemas.microsoft.com/office/drawing/2014/main" id="{8683206A-DB83-45AB-83A8-65943303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755" y="204284"/>
            <a:ext cx="136800" cy="13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그림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db50cbb8547a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396508" y="38911"/>
            <a:ext cx="579312" cy="49287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6FD68758-A962-43F3-A70E-9C9285A21E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1FE29FA-3476-487D-8ADC-2B0E6E6C3C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32137622-F848-4F75-BBDD-DFE369524B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D2859B59-D295-4591-9AD8-993C93FCF5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87F0930-F265-46E0-ACA8-380CE613F6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F0A03D0-85DE-445F-985A-94F34A54CF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F8932F4D-0FE6-4727-91C8-BA1581B041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A326A8C9-3A8C-433E-9E0E-8D349681CA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F8927A5-9CCD-4288-AA7D-50B4EEAFE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122875A3-4BA8-45C2-915D-D94FC026AF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F8524E03-8183-47E1-9CAC-4F12E790A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21023622-5B78-43A1-A37A-9444D215C4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A7E2CE3-B524-4F37-BFDB-8500844123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1524062E-4644-47B9-B802-88412051B11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0B871511-8BA6-4E9B-A8EE-FC66B08F11B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C4E4433E-08E7-4B95-B2C3-BB63C91407B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70021011-B373-44FE-A4A5-CA996C5D5D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3F2B6BF5-6731-43DE-8082-03CAD87C58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FDF85565-FAB9-473F-9D2F-FA9975EA06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F4BA6E4-51DE-4753-A5ED-3EFFCFE9C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992148A8-6EF9-4B12-87CA-1BD864D841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31D2E9B5-3D5E-4E36-8FE2-A72873B24A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CFAA3D75-1153-4999-A5E8-676872A6EA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A91B8153-E874-446E-A510-D8A03802F3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1B4D80EE-65FC-4705-90DD-A5BA3B774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C4DEFA02-4F70-45A2-99BF-8FFD01CA36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5DDBB17-5FBF-42CE-961F-9B6DD56FA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94360E1-6015-44B3-9EDD-3AACADF288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B4B6D12A-A53A-4B20-AEB7-6686C2E09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3AAA87CB-A388-465B-8B22-0CB2007B7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DD5B777E-1009-499F-9A40-38B917767A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4BDBE86B-79B5-4DD9-8595-D4B04017B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D303E0F9-3FF6-4497-BA56-0F873DCF90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507079B2-B238-4C44-8E0A-003C040B4CE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81EA291-857F-4D12-8332-DDB2BE8DE7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7EDD0403-881F-44FD-80B3-3C768CA539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72771514-5659-4109-9CF3-6389AB9129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7B84A5C0-27B7-4603-A7D1-777C3FE89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DA0CF44-4A9F-4C09-BF92-55503BC36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20C1437-D891-4AF0-A5CB-16CA0D2929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6AA0707C-0CF9-4C68-BD8D-0105D7E912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119E58F-D101-46F0-BAF5-EAA0942FE0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E05B4531-A2E9-44A3-AB75-0B21DE1107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36B83446-DFAF-4B2C-A1E7-BCCED2B69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99F752E-3EC5-48B2-9839-F934340FA0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64C2088-4A35-42C7-8E40-C5480F631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977085D-5408-4E51-B5DF-10EE81C4A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119B4F8-60B7-4ECC-BDF9-EF4D308924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4701b990834dba" /><Relationship Type="http://schemas.openxmlformats.org/officeDocument/2006/relationships/slideLayout" Target="/ppt/slideLayouts/slideLayout1.xml" Id="R21b8d164982247f0" /><Relationship Type="http://schemas.openxmlformats.org/officeDocument/2006/relationships/slideLayout" Target="/ppt/slideLayouts/slideLayout2.xml" Id="Rd067120da3ad4502" /><Relationship Type="http://schemas.openxmlformats.org/officeDocument/2006/relationships/slideLayout" Target="/ppt/slideLayouts/slideLayout3.xml" Id="R2d2c37965a114d41" /><Relationship Type="http://schemas.openxmlformats.org/officeDocument/2006/relationships/slideLayout" Target="/ppt/slideLayouts/slideLayout4.xml" Id="R440d63a6a4b5474f" /><Relationship Type="http://schemas.openxmlformats.org/officeDocument/2006/relationships/slideLayout" Target="/ppt/slideLayouts/slideLayout5.xml" Id="R5361011be78644d2" /><Relationship Type="http://schemas.openxmlformats.org/officeDocument/2006/relationships/slideLayout" Target="/ppt/slideLayouts/slideLayout6.xml" Id="R86a7f99a965c4246" /><Relationship Type="http://schemas.openxmlformats.org/officeDocument/2006/relationships/slideLayout" Target="/ppt/slideLayouts/slideLayout7.xml" Id="Raf6e7cd609c342ed" /><Relationship Type="http://schemas.openxmlformats.org/officeDocument/2006/relationships/slideLayout" Target="/ppt/slideLayouts/slideLayout8.xml" Id="R3eae35c4dc8c477c" /><Relationship Type="http://schemas.openxmlformats.org/officeDocument/2006/relationships/slideLayout" Target="/ppt/slideLayouts/slideLayout9.xml" Id="Red5d23d9148f475a" /><Relationship Type="http://schemas.openxmlformats.org/officeDocument/2006/relationships/slideLayout" Target="/ppt/slideLayouts/slideLayout10.xml" Id="Rbc5d16499cd34bbd" /><Relationship Type="http://schemas.openxmlformats.org/officeDocument/2006/relationships/slideLayout" Target="/ppt/slideLayouts/slideLayout11.xml" Id="Rcfe747a896dc4ad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77AE0547-3DBC-4DFD-A143-794FA0F7C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0063A49-04F9-423D-9084-9EF3C3AF29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5857FD1-68CD-4DDD-BD64-264AE03B372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495B27C-936B-4CC7-AAFC-AAAD1678996E}" type="datetimeFigureOut">
              <a:t>2026-08-31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C166AB8-E192-4E34-A83C-CE7B40D998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66B5794E-03CC-48C5-AEF6-8AEA9EFB43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CB177AD-33E2-4723-8BE4-C4C1BED8557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b8d164982247f0"/>
    <p:sldLayoutId xmlns:r="http://schemas.openxmlformats.org/officeDocument/2006/relationships" id="2147483650" r:id="Rd067120da3ad4502"/>
    <p:sldLayoutId xmlns:r="http://schemas.openxmlformats.org/officeDocument/2006/relationships" id="2147483651" r:id="R2d2c37965a114d41"/>
    <p:sldLayoutId xmlns:r="http://schemas.openxmlformats.org/officeDocument/2006/relationships" id="2147483652" r:id="R440d63a6a4b5474f"/>
    <p:sldLayoutId xmlns:r="http://schemas.openxmlformats.org/officeDocument/2006/relationships" id="2147483653" r:id="R5361011be78644d2"/>
    <p:sldLayoutId xmlns:r="http://schemas.openxmlformats.org/officeDocument/2006/relationships" id="2147483654" r:id="R86a7f99a965c4246"/>
    <p:sldLayoutId xmlns:r="http://schemas.openxmlformats.org/officeDocument/2006/relationships" id="2147483655" r:id="Raf6e7cd609c342ed"/>
    <p:sldLayoutId xmlns:r="http://schemas.openxmlformats.org/officeDocument/2006/relationships" id="2147483656" r:id="R3eae35c4dc8c477c"/>
    <p:sldLayoutId xmlns:r="http://schemas.openxmlformats.org/officeDocument/2006/relationships" id="2147483657" r:id="Red5d23d9148f475a"/>
    <p:sldLayoutId xmlns:r="http://schemas.openxmlformats.org/officeDocument/2006/relationships" id="2147483658" r:id="Rbc5d16499cd34bbd"/>
    <p:sldLayoutId xmlns:r="http://schemas.openxmlformats.org/officeDocument/2006/relationships" id="2147483659" r:id="Rcfe747a896dc4ad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8db63a31341da" /><Relationship Type="http://schemas.openxmlformats.org/officeDocument/2006/relationships/image" Target="/ppt/media/image2.png" Id="Rb4ecc41eb7fa4be0" /><Relationship Type="http://schemas.openxmlformats.org/officeDocument/2006/relationships/notesSlide" Target="/ppt/notesSlides/notesSlide1.xml" Id="R2da80410663448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6d9b66b6ef44c2" /><Relationship Type="http://schemas.openxmlformats.org/officeDocument/2006/relationships/notesSlide" Target="/ppt/notesSlides/notesSlide2.xml" Id="R8ff7775a40114f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2231e154d4dc0" /><Relationship Type="http://schemas.openxmlformats.org/officeDocument/2006/relationships/notesSlide" Target="/ppt/notesSlides/notesSlide3.xml" Id="Rfc69aa9a3f9848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98ab1ecd0e4066" /><Relationship Type="http://schemas.openxmlformats.org/officeDocument/2006/relationships/notesSlide" Target="/ppt/notesSlides/notesSlide4.xml" Id="Rcbdf25fae30543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b1ec9edc1542a7" /><Relationship Type="http://schemas.openxmlformats.org/officeDocument/2006/relationships/notesSlide" Target="/ppt/notesSlides/notesSlide5.xml" Id="Rb40ca2e06fd1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ff4c4165984704" /><Relationship Type="http://schemas.openxmlformats.org/officeDocument/2006/relationships/notesSlide" Target="/ppt/notesSlides/notesSlide6.xml" Id="R7d5625c5a80145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76b68dab94b39" /><Relationship Type="http://schemas.openxmlformats.org/officeDocument/2006/relationships/notesSlide" Target="/ppt/notesSlides/notesSlide7.xml" Id="R40edb254a2ad4c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b7d2ddbe084362" /><Relationship Type="http://schemas.openxmlformats.org/officeDocument/2006/relationships/notesSlide" Target="/ppt/notesSlides/notesSlide8.xml" Id="R7519b3bf2bfc45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032114ee074880" /><Relationship Type="http://schemas.openxmlformats.org/officeDocument/2006/relationships/notesSlide" Target="/ppt/notesSlides/notesSlide9.xml" Id="R05e04babf1c344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0020b00b9d478d" /><Relationship Type="http://schemas.openxmlformats.org/officeDocument/2006/relationships/notesSlide" Target="/ppt/notesSlides/notesSlide10.xml" Id="R446d0d7157224a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26a097fa564b47" /><Relationship Type="http://schemas.openxmlformats.org/officeDocument/2006/relationships/notesSlide" Target="/ppt/notesSlides/notesSlide11.xml" Id="Rd4df5fda571c4b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61523076614207" /><Relationship Type="http://schemas.openxmlformats.org/officeDocument/2006/relationships/notesSlide" Target="/ppt/notesSlides/notesSlide12.xml" Id="R296f29f864a0487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7f44e2493c49d4" /><Relationship Type="http://schemas.openxmlformats.org/officeDocument/2006/relationships/notesSlide" Target="/ppt/notesSlides/notesSlide13.xml" Id="R9c0e5335b91a41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b5db41502a49cb" /><Relationship Type="http://schemas.openxmlformats.org/officeDocument/2006/relationships/notesSlide" Target="/ppt/notesSlides/notesSlide14.xml" Id="Rfcdfb37a561940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4714483-7072-431F-9DBE-87F44E4D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95892E1-F4A5-4991-AC52-4F417B14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5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A6E12753-0A63-43EE-B28A-C989D033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 flipH="0" flipV="0">
            <a:off x="7942191" y="2507571"/>
            <a:ext cx="3563871" cy="356387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10000"/>
                  </a:schemeClr>
                </a:gs>
                <a:gs pos="100000">
                  <a:schemeClr val="tx2">
                    <a:lumMod val="50000"/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B26FA385-76DA-40E9-9257-AA3E07FF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0435065" y="4048931"/>
            <a:ext cx="1381607" cy="138160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20000"/>
                  </a:schemeClr>
                </a:gs>
                <a:gs pos="100000">
                  <a:schemeClr val="tx2">
                    <a:lumMod val="50000"/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262D75CA-F374-4878-8106-3EA5E970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1" y="2075420"/>
            <a:ext cx="3144364" cy="314436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tx2">
                  <a:lumMod val="75000"/>
                  <a:alpha val="20000"/>
                </a:schemeClr>
              </a:gs>
              <a:gs pos="100000">
                <a:schemeClr val="tx2">
                  <a:lumMod val="50000"/>
                  <a:alpha val="10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938667A5-74E3-4EFD-8C45-F48F4742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00000" flipH="0" flipV="0">
            <a:off x="10150845" y="4270841"/>
            <a:ext cx="1897885" cy="189788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75000"/>
                  <a:alpha val="20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31512EE2-F4CC-4E18-9CDA-B92C1112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 flipH="0" flipV="0">
            <a:off x="2046780" y="3040492"/>
            <a:ext cx="2579322" cy="257932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20000"/>
                  </a:schemeClr>
                </a:gs>
                <a:gs pos="100000">
                  <a:schemeClr val="tx2">
                    <a:lumMod val="50000"/>
                    <a:alpha val="2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B99E503B-9B4D-4EE3-A50F-15AC374F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500000" flipH="0" flipV="0">
            <a:off x="2224640" y="3193975"/>
            <a:ext cx="2243193" cy="224319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1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2683E3F-F855-4549-84F8-42064EC0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438146" y="1042605"/>
            <a:ext cx="2796461" cy="7112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Straight Connector 37">
            <a:extLst xmlns:a="http://schemas.openxmlformats.org/drawingml/2006/main">
              <a:ext uri="{FF2B5EF4-FFF2-40B4-BE49-F238E27FC236}">
                <a16:creationId xmlns:a16="http://schemas.microsoft.com/office/drawing/2014/main" id="{4F40DC51-DC53-4345-8462-3112CE63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9539" y="317578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75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Straight Connector 38">
            <a:extLst xmlns:a="http://schemas.openxmlformats.org/drawingml/2006/main">
              <a:ext uri="{FF2B5EF4-FFF2-40B4-BE49-F238E27FC236}">
                <a16:creationId xmlns:a16="http://schemas.microsoft.com/office/drawing/2014/main" id="{A97C23F3-BF46-4D80-B3AD-FF243867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9539" y="500580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75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Straight Connector 39">
            <a:extLst xmlns:a="http://schemas.openxmlformats.org/drawingml/2006/main">
              <a:ext uri="{FF2B5EF4-FFF2-40B4-BE49-F238E27FC236}">
                <a16:creationId xmlns:a16="http://schemas.microsoft.com/office/drawing/2014/main" id="{1C38F41E-37E1-43CD-8F0D-2D13BBBF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9539" y="683582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75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Straight Connector 40">
            <a:extLst xmlns:a="http://schemas.openxmlformats.org/drawingml/2006/main">
              <a:ext uri="{FF2B5EF4-FFF2-40B4-BE49-F238E27FC236}">
                <a16:creationId xmlns:a16="http://schemas.microsoft.com/office/drawing/2014/main" id="{CA83A34E-BDBA-4857-BA17-99D0E262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59539" y="866585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75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32F3179-0CD5-40C8-9939-D8355006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-1" y="6140785"/>
            <a:ext cx="6095997" cy="7112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Straight Connector 45">
            <a:extLst xmlns:a="http://schemas.openxmlformats.org/drawingml/2006/main">
              <a:ext uri="{FF2B5EF4-FFF2-40B4-BE49-F238E27FC236}">
                <a16:creationId xmlns:a16="http://schemas.microsoft.com/office/drawing/2014/main" id="{24776668-ECFA-4AE6-8EE6-3D259D68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345" y="5940560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50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Straight Connector 46">
            <a:extLst xmlns:a="http://schemas.openxmlformats.org/drawingml/2006/main">
              <a:ext uri="{FF2B5EF4-FFF2-40B4-BE49-F238E27FC236}">
                <a16:creationId xmlns:a16="http://schemas.microsoft.com/office/drawing/2014/main" id="{4108C9EF-8F9B-4D0E-B70C-D0921813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345" y="6123562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50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Straight Connector 47">
            <a:extLst xmlns:a="http://schemas.openxmlformats.org/drawingml/2006/main">
              <a:ext uri="{FF2B5EF4-FFF2-40B4-BE49-F238E27FC236}">
                <a16:creationId xmlns:a16="http://schemas.microsoft.com/office/drawing/2014/main" id="{5C43D796-B49E-4C9C-A64E-B3854760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345" y="6306564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50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133DEBE5-4240-4DFD-AEAF-6A50E260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6345" y="6489567"/>
            <a:ext cx="1285875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gradFill>
              <a:gsLst>
                <a:gs pos="0">
                  <a:schemeClr val="tx2">
                    <a:lumMod val="60000"/>
                    <a:lumOff val="40000"/>
                    <a:alpha val="40000"/>
                  </a:schemeClr>
                </a:gs>
                <a:gs pos="100000">
                  <a:schemeClr val="tx2">
                    <a:lumMod val="50000"/>
                    <a:alpha val="40000"/>
                  </a:schemeClr>
                </a:gs>
              </a:gsLst>
              <a:lin ang="5400000" scaled="1"/>
            </a:gradFill>
            <a:prstDash val="sys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69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cc41eb7fa4be0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xmlns:a="http://schemas.openxmlformats.org/drawingml/2006/main" l="22222" t="0" r="2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655" y="29548"/>
            <a:ext cx="10691307" cy="6013845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65502F9-2C8C-4311-996C-269BFD3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937" y="4036402"/>
            <a:ext cx="7315200" cy="27020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HCI와 커뮤니케이션 4주차</a:t>
            </a:r>
          </a:p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25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어포던스와 시그니파이어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D00B645-EF47-F352-FE7D-4262FD02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26" y="4942788"/>
            <a:ext cx="4308588" cy="17208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온라인 요약 · 오프라인 실습</a:t>
            </a:r>
            <a:endParaRPr kern="1200">
              <a:solidFill>
                <a:schemeClr val="bg1"/>
              </a:solidFill>
              <a:latin typeface="12롯데마트드림Bold"/>
              <a:ea typeface="12롯데마트드림Bold"/>
              <a:cs typeface="12롯데마트드림Bold"/>
            </a:endParaRPr>
          </a:p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「노만의 공방」</a:t>
            </a:r>
            <a:endParaRPr kern="1200">
              <a:solidFill>
                <a:schemeClr val="bg1"/>
              </a:solidFill>
              <a:latin typeface="12롯데마트드림Bold"/>
              <a:ea typeface="12롯데마트드림Bold"/>
              <a:cs typeface="12롯데마트드림Bold"/>
            </a:endParaRPr>
          </a:p>
          <a:p xmlns:a="http://schemas.openxmlformats.org/drawingml/2006/main"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박윤정 교수</a:t>
            </a:r>
            <a:endParaRPr kern="1200">
              <a:solidFill>
                <a:schemeClr val="bg1"/>
              </a:solidFill>
              <a:latin typeface="12롯데마트드림Bold"/>
              <a:ea typeface="12롯데마트드림Bold"/>
              <a:cs typeface="12롯데마트드림Bold"/>
            </a:endParaRPr>
          </a:p>
        </p:txBody>
      </p:sp>
    </p:spTree>
    <p:extLst>
      <p:ext uri="{BB962C8B-B14F-4D97-AF65-F5344CB8AC3E}">
        <p14:creationId xmlns:p14="http://schemas.microsoft.com/office/powerpoint/2010/main" val="39294515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8A309-8218-414B-8B0E-49B31117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D60E0-9AFC-43C3-AE9C-D8B85000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이번 주의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9C84D-5862-4E6B-B7A9-3332E1F3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3~4쪽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B91EF-7373-4FF3-B051-B0264382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933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처음 보는 문 앞에서 밀지 당길지를 어떻게 아는가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가로 손잡이는 내려서 열기, 동그란 손잡이는 돌리기로 읽힌다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문을 잘못 미는 일은 사용자의 실수보다 문의 설계 문제에 가깝다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오늘의 세 개념: 어포던스, 시그니파이어, 두 개의 간극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EF401-9225-4DAB-894E-697749C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9E35DF-80A8-4C07-8188-7240C750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어포던스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30F0E-1A2E-4A3E-8466-9DDEBBD8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5~11쪽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33618-3EB8-4ADD-9561-AC9B951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933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깁슨(1977): 환경이 행위자에게 제공하는 행동 가능성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사물의 속성이 아니라 사물과 행위자의 관계 속에 있다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의자는 앉기, 밟고 올라서기, 문 고정, 던지기까지 허용할 수 있다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같은 창문도 도둑에겐 기어오를 가능성이지만 아이에겐 아닐 수 있다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알아차리지 못해도 어포던스는 이미 있다. 다만 쓰이지 못한다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E8D51-C21D-45AB-809B-344482F8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F0A49-BCED-4719-AD80-8DF88F4E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시그니파이어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9011E-63D8-4A2E-9E2A-589985E5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12~16쪽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72300-E7DD-40D2-AD28-D0368007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286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노먼(1988)은 ‘지각된 어포던스’를 HCI에 들여왔다</a:t>
            </a:r>
          </a:p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노먼(2008)의 2쪽짜리 글 제목: Signifiers, not affordances</a:t>
            </a:r>
          </a:p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“이 버튼에 어포던스를 추가했다”는 말은 정확하지 않다</a:t>
            </a:r>
          </a:p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대부분의 문은 밀기와 당기기를 모두 허용한다. 차이는 시그니파이어에서 난다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715125" y="2133600"/>
          <a:ext xmlns:a="http://schemas.openxmlformats.org/drawingml/2006/main" cx="4524375" cy="1619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08125"/>
                <a:gridCol w="1508125"/>
                <a:gridCol w="1508125"/>
              </a:tblGrid>
              <a:tr h="5397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어포던스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시그니파이어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어디에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사물과 행위자의 관계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디자이너가 보이게 만든 단서</a:t>
                      </a:r>
                    </a:p>
                  </a:txBody>
                  <a:tcPr marL="91440" marR="91440" marT="45720" marB="45720"/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더할 수 있나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아니오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C9A09-B17D-4A3A-9D06-9E9C312C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2CC2E-9A77-40DF-96EC-79F7026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갈라 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DC319-D49A-45FA-AE61-15C1BCEC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17~21쪽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23E72-395A-4AE6-9B6B-85BEE6AE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933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개버(1991): 지각 가능한 어포던스, 숨은 어포던스, 거짓 어포던스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하트슨(2003): 물리적, 감각적, 인지적, 기능적 어포던스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‘밀어서 잠금해제’는 손잡이, 문구와 화살표, 밝은 대비, 실제 해제가 함께 작동한다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제약은 할 수 없는 쪽을 막아서 알린다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관습은 배운다. 파란 밑줄은 링크, 세 줄 아이콘은 차림표로 읽힌다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E013D-A09A-4DAF-86C2-FA99A1E6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3337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5DCE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rPr>
              <a:t>제약의 네 갈래</a:t>
            </a:r>
          </a:p>
          <a:p xmlns:a="http://schemas.openxmlformats.org/drawingml/2006/main">
            <a:pPr>
              <a:def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rPr>
              <a:t>물리적 · 의미적 · 문화적 · 논리적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5B9B0-C37E-429E-9BB7-AE586FB5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28E1C-58EF-4694-9DBF-567010B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두 개의 간극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6AADE-086C-4EA4-BD07-582CED71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96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온라인 22~26쪽 요약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6334125" cy="2238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11375"/>
                <a:gridCol w="2111375"/>
                <a:gridCol w="2111375"/>
              </a:tblGrid>
              <a:tr h="5595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실행의 간극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평가의 간극</a:t>
                      </a:r>
                    </a:p>
                  </a:txBody>
                  <a:tcPr marL="91440" marR="91440" marT="45720" marB="45720">
                    <a:solidFill>
                      <a:srgbClr val="1E76BB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모르나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해야 할지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무슨 일이 일어났는지</a:t>
                      </a:r>
                    </a:p>
                  </a:txBody>
                  <a:tcPr marL="91440" marR="91440" marT="45720" marB="45720"/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시그니파이어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피드백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처음 보는 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엘리베이터 닫힘 버튼 연타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326E8-C53F-4A00-984B-64B548A6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스키우모피즘과 플랫 디자인의 논쟁은 단서를 얼마나 덜어 낼 수 있는가의 문제였다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정리: 어포던스는 더하거나 뺄 수 없다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디자이너가 더하는 것은 시그니파이어다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FC9BC-E92D-4360-B9FF-FA3FE270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310E3-369A-438E-8E3E-0CADB3D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오늘 할 일: 노만의 공방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F1422-0675-49F2-966E-BD073F21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주소: retro-app-six.vercel.app/norman/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조별로 들어간다. PC 여러 대로 들어와도 같은 공방을 본다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여러분은 앱 화면을 고쳐 파는 장인이다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주문으로 들어온 화면은 이미 다 작동한다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기능은 손대지 못한다. 붙일 수 있는 것은 단서뿐이다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6E8CB-E214-4F44-AC0A-1CEAC1E9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조 고르는 첫 화면</a:t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20개 조 격자 + ‘공방 문을 연다’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6CF56-207A-42AB-89A8-46CCBACE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395BC-12C9-4820-99D1-88413870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한 바퀴 돌아보기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1B6FA-AB95-4D06-B888-A17413B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7626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D5DCE3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rPr>
              <a:t>주문서 받기 → 상점에서 재료 사기 → 제작대에서 합치기</a:t>
            </a:r>
          </a:p>
          <a:p xmlns:a="http://schemas.openxmlformats.org/drawingml/2006/main">
            <a:pPr>
              <a:def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F2B35"/>
                </a:solidFill>
                <a:latin typeface="맑은 고딕"/>
                <a:ea typeface="맑은 고딕"/>
                <a:cs typeface="맑은 고딕"/>
              </a:rPr>
              <a:t>→ 화면에 끌어다 붙이기 → 테스트해 보기 → 앱시장에 내놓기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E123E-337F-4824-B5E9-F60893E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밑천 1,000 포인트로 시작</a:t>
            </a:r>
          </a:p>
          <a:p xmlns:a="http://schemas.openxmlformats.org/drawingml/2006/main">
            <a:pPr>
              <a:def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하나 팔면 다음 의뢰가 들어온다</a:t>
            </a:r>
          </a:p>
          <a:p xmlns:a="http://schemas.openxmlformats.org/drawingml/2006/main">
            <a:pPr>
              <a:def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의뢰는 모두 40가지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74731-F25A-4E93-AE94-D811DE7A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공방 작업대 전체</a:t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왼쪽 선반 · 가운데 주문서와 앱 화면 · 오른쪽 제작대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F4841-F890-4A5F-961B-A507E668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3249E-6ABC-44D8-8BE5-AD8446E8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상점: 재료를 삽니다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38939-7A08-4799-A676-D7AC6520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5286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시그니파이어가 될 재료를 파는 곳</a:t>
            </a:r>
          </a:p>
          <a:p xmlns:a="http://schemas.openxmlformats.org/drawingml/2006/main">
            <a:pPr>
              <a:def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재료를 합쳐서 하나의 시그니파이어를 만든다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95350" y="2571750"/>
          <a:ext xmlns:a="http://schemas.openxmlformats.org/drawingml/2006/main" cx="5286375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21594"/>
                <a:gridCol w="1321594"/>
                <a:gridCol w="1321594"/>
                <a:gridCol w="1321594"/>
              </a:tblGrid>
              <a:tr h="4667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</a:t>
                      </a:r>
                    </a:p>
                  </a:txBody>
                  <a:tcPr marL="91440" marR="91440" marT="45720" marB="45720">
                    <a:solidFill>
                      <a:srgbClr val="4F87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91440" marR="91440" marT="45720" marB="45720">
                    <a:solidFill>
                      <a:srgbClr val="4F87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</a:t>
                      </a:r>
                    </a:p>
                  </a:txBody>
                  <a:tcPr marL="91440" marR="91440" marT="45720" marB="45720">
                    <a:solidFill>
                      <a:srgbClr val="4F87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91440" marR="91440" marT="45720" marB="45720">
                    <a:solidFill>
                      <a:srgbClr val="4F8738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글자 · 그림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테두리 · 진한 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30P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깜박임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40P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큰 크기 · 화살표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30P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 · 그늘 · 떨림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30P</a:t>
                      </a:r>
                    </a:p>
                  </a:txBody>
                  <a:tcPr marL="91440" marR="91440" marT="45720" marB="45720"/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체크 표시 · 소리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40P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밑줄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F2B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20P</a:t>
                      </a:r>
                    </a:p>
                  </a:txBody>
                  <a:tcPr marL="91440" marR="91440" marT="45720" marB="4572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60CCE-2C8A-4EA0-8AFA-35E755A2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상점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64AD8-7C1B-40DD-815D-26BA1C51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23630-8B61-484C-AEEC-7FFEB86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제작대: 둘을 합쳐 단서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1EC98-6C2C-4BE5-B1C1-483CFC45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테두리 + 깜박임 → 깜박이는 입력칸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글자 + 테두리 → 라벨 붙은 요소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그늘 + 테두리 → 눌림 반응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글자 + 쪽지 → 알림 쪽지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만든 단서를 끌어다 화면 위에 놓으면 붙는다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1FA57-9930-46C8-A69F-30BDDBB2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제작대</a:t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재료 두 칸 + 만들기 + 만든 단서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ACFE8-8973-4D46-8A1A-37832597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53DB5-B3F3-43C2-AD36-B4E4F6E0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막히면: 단서 조합표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89B8C-AEBD-40C5-928E-9DD21A5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테스트를 돌리면 ‘사용자가 막힌 이유’가 나온다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굵은 글씨가 모자란 단서의 이름이다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예: 조작한 뒤 결과 알려주기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제작대 맨 아래 조합표에서 같은 묶음을 찾는다</a:t>
            </a:r>
          </a:p>
          <a:p xmlns:a="http://schemas.openxmlformats.org/drawingml/2006/main">
            <a:pPr>
              <a:def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그 줄의 재료를 상점에서 사 오면 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C06F8-6E5C-4190-A9EA-0E33EB6A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76400"/>
            <a:ext cx="40005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테스트 결과 카드 + 단서 조합표</a:t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두 장을 나란히 배치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59ABF-7B20-4755-A9FC-63E7652B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BCD28-A491-4774-98F8-EE344C46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앱시장: 팔러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2D4D4-1181-4CB1-991A-85160B4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테스트에서 막히는 데가 없어야 내놓을 수 있다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화면 하나에 100~200 포인트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과제 경로 밖까지 챙기면 가격이 오른다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군더더기 없이 적은 단서로 해결하면 가격이 오른다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터치되지 않는 곳에 터치돼 보이는 단서를 붙이면 감점된다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팔면 다음 의뢰가 들어온다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35CB56-C1EA-4B4F-BC95-14D57499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앱시장 출품 심사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C3EC4-7325-4D65-B457-7530C8CC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D8DB8-71EE-4F7E-88BD-45565EA7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돈이 떨어지면: 문제 풀기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669EF-1EAA-4FC6-88DC-09A99207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재료 값이 버는 것보다 크다. 반드시 쪼들린다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초상화가 빛나면 노만 영감이 말을 거는 것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초상화를 클릭하면 퀴즈가 시작된다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온라인 강의 내용 16문제. 맞히면 40 포인트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한 문제는 한 번만 답할 수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E6D6C-7620-4508-B606-5F0F13FB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문제 풀기 화면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9B3AC-E649-47D0-ADC8-B61235C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 b="1">
                <a:solidFill>
                  <a:srgbClr val="7E879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80809-6366-40E9-9DB7-8414FA30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8191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 b="1">
                <a:solidFill>
                  <a:srgbClr val="1E76BB"/>
                </a:solidFill>
                <a:latin typeface="맑은 고딕"/>
                <a:ea typeface="맑은 고딕"/>
                <a:cs typeface="맑은 고딕"/>
              </a:rPr>
              <a:t>마무리: 실습보고서 내려받기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2A9CC-ED01-4D7E-890C-51033EA5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‘조별 활동 종료’가 되면 모든 조의 포인트 적립이 중지된다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각자 화면에 ‘실습보고서 내려받기’가 뜬다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한 사람씩 각자 내려받는다. 워드와 한글에서 열린다</a:t>
            </a:r>
          </a:p>
          <a:p xmlns:a="http://schemas.openxmlformats.org/drawingml/2006/main">
            <a:pPr>
              <a:def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74A7A"/>
                </a:solidFill>
                <a:latin typeface="맑은 고딕"/>
                <a:ea typeface="맑은 고딕"/>
                <a:cs typeface="맑은 고딕"/>
              </a:rPr>
              <a:t>• 숫자는 이미 기록된다. 학번, 이름, 나머지 문항을 채우면 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04122-B9DA-47A9-90EA-C1DAECBC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52600"/>
            <a:ext cx="40005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19050">
            <a:solidFill>
              <a:srgbClr val="B9C3CC"/>
            </a:solidFill>
            <a:prstDash val="dash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스냅샷 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종료 화면 + 워크북 1쪽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415160"/>
                </a:solidFill>
                <a:latin typeface="맑은 고딕"/>
                <a:ea typeface="맑은 고딕"/>
                <a:cs typeface="맑은 고딕"/>
              </a:rPr>
              <a:t>촬영 후 이 자리의 회색 박스를 실제 스냅샷으로 교체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06393-C7D7-4900-83D4-7A53D7C8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578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879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>
                <a:solidFill>
                  <a:srgbClr val="586879"/>
                </a:solidFill>
                <a:latin typeface="맑은 고딕"/>
                <a:ea typeface="맑은 고딕"/>
                <a:cs typeface="맑은 고딕"/>
              </a:rPr>
              <a:t>촬영 메모: 연습용 조(예: 20조)로 촬영하고, 수업 전 admin에서 해당 조를 되돌립니다.</a:t>
            </a:r>
          </a:p>
        </p:txBody>
      </p:sp>
    </p:spTree>
    <p:extLst>
      <p:ext uri="{BB962C8B-B14F-4D97-AF65-F5344CB8AC3E}">
        <p14:creationId xmlns:p14="http://schemas.microsoft.com/office/powerpoint/2010/main" val="3780357314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2026-09-22T01:12:03.1250000Z</dcterms:created>
  <dcterms:modified xsi:type="dcterms:W3CDTF">2026-09-22T01:12:03.1250000Z</dcterms:modified>
</coreProperties>
</file>